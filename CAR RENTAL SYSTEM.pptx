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p:sldMasterIdLst>
    <p:sldMasterId id="2147483648" r:id="rId1"/>
  </p:sldMasterIdLst>
  <p:notesMasterIdLst>
    <p:notesMasterId r:id="rId18"/>
  </p:notesMasterIdLst>
  <p:handoutMasterIdLst>
    <p:handoutMasterId r:id="rId19"/>
  </p:handoutMasterIdLst>
  <p:sldIdLst>
    <p:sldId id="470" r:id="rId2"/>
    <p:sldId id="258" r:id="rId3"/>
    <p:sldId id="486" r:id="rId4"/>
    <p:sldId id="471" r:id="rId5"/>
    <p:sldId id="478" r:id="rId6"/>
    <p:sldId id="476" r:id="rId7"/>
    <p:sldId id="348" r:id="rId8"/>
    <p:sldId id="457" r:id="rId9"/>
    <p:sldId id="479" r:id="rId10"/>
    <p:sldId id="480" r:id="rId11"/>
    <p:sldId id="481" r:id="rId12"/>
    <p:sldId id="482" r:id="rId13"/>
    <p:sldId id="483" r:id="rId14"/>
    <p:sldId id="487" r:id="rId15"/>
    <p:sldId id="484" r:id="rId16"/>
    <p:sldId id="485" r:id="rId17"/>
  </p:sldIdLst>
  <p:sldSz cx="9144000" cy="5143500" type="screen16x9"/>
  <p:notesSz cx="6797675" cy="9926638"/>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87621" autoAdjust="0"/>
  </p:normalViewPr>
  <p:slideViewPr>
    <p:cSldViewPr showGuides="1">
      <p:cViewPr>
        <p:scale>
          <a:sx n="75" d="100"/>
          <a:sy n="75" d="100"/>
        </p:scale>
        <p:origin x="-1550" y="-504"/>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t>6/5/2025</a:t>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lstStyle>
            <a:lvl1pPr algn="r" eaLnBrk="1" hangingPunct="1">
              <a:defRPr sz="1300" smtClean="0">
                <a:latin typeface="Calibri" panose="020F0502020204030204" pitchFamily="34" charset="0"/>
              </a:defRPr>
            </a:lvl1pPr>
          </a:lstStyle>
          <a:p>
            <a:pPr>
              <a:defRPr/>
            </a:pPr>
            <a:fld id="{2952E2ED-3A02-491C-A9B8-DFEE216EB3A7}" type="slidenum">
              <a:rPr lang="en-US" altLang="en-US"/>
              <a:t>‹#›</a:t>
            </a:fld>
            <a:endParaRPr lang="en-US" altLang="en-US"/>
          </a:p>
        </p:txBody>
      </p:sp>
    </p:spTree>
    <p:extLst>
      <p:ext uri="{BB962C8B-B14F-4D97-AF65-F5344CB8AC3E}">
        <p14:creationId xmlns:p14="http://schemas.microsoft.com/office/powerpoint/2010/main" val="24272634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061F6FC2-9645-479A-A309-27B8F5654211}" type="datetimeFigureOut">
              <a:rPr lang="en-US"/>
              <a:t>6/5/2025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lstStyle>
            <a:lvl1pPr algn="r" eaLnBrk="1" hangingPunct="1">
              <a:defRPr sz="1300" smtClean="0">
                <a:latin typeface="Calibri" panose="020F0502020204030204" pitchFamily="34" charset="0"/>
              </a:defRPr>
            </a:lvl1pPr>
          </a:lstStyle>
          <a:p>
            <a:pPr>
              <a:defRPr/>
            </a:pPr>
            <a:fld id="{F2D8CC3F-ADB2-4AF7-880C-111F7E6C7FE6}" type="slidenum">
              <a:rPr lang="en-US" altLang="en-US"/>
              <a:t>‹#›</a:t>
            </a:fld>
            <a:endParaRPr lang="en-US" altLang="en-US"/>
          </a:p>
        </p:txBody>
      </p:sp>
    </p:spTree>
    <p:extLst>
      <p:ext uri="{BB962C8B-B14F-4D97-AF65-F5344CB8AC3E}">
        <p14:creationId xmlns:p14="http://schemas.microsoft.com/office/powerpoint/2010/main" val="123930118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ln>
        </p:spPr>
      </p:sp>
      <p:sp>
        <p:nvSpPr>
          <p:cNvPr id="25603" name="Rectangle 2"/>
          <p:cNvSpPr>
            <a:spLocks noGrp="1"/>
          </p:cNvSpPr>
          <p:nvPr>
            <p:ph type="body" idx="1"/>
          </p:nvPr>
        </p:nvSpPr>
        <p:spPr bwMode="auto">
          <a:noFill/>
        </p:spPr>
        <p:txBody>
          <a:bodyPr wrap="square" numCol="1" anchor="t" anchorCtr="0" compatLnSpc="1"/>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ln>
        </p:spPr>
        <p:txBody>
          <a:bodyPr/>
          <a:lstStyle/>
          <a:p>
            <a:fld id="{27CB6598-6B20-4959-AEAD-7269146248E2}" type="slidenum">
              <a:rPr lang="en-US" altLang="en-US"/>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ln>
        </p:spPr>
      </p:sp>
      <p:sp>
        <p:nvSpPr>
          <p:cNvPr id="25603" name="Rectangle 2"/>
          <p:cNvSpPr>
            <a:spLocks noGrp="1"/>
          </p:cNvSpPr>
          <p:nvPr>
            <p:ph type="body" idx="1"/>
          </p:nvPr>
        </p:nvSpPr>
        <p:spPr bwMode="auto">
          <a:noFill/>
        </p:spPr>
        <p:txBody>
          <a:bodyPr wrap="square" numCol="1" anchor="t" anchorCtr="0" compatLnSpc="1"/>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ln>
        </p:spPr>
        <p:txBody>
          <a:bodyPr/>
          <a:lstStyle/>
          <a:p>
            <a:fld id="{27CB6598-6B20-4959-AEAD-7269146248E2}" type="slidenum">
              <a:rPr lang="en-US" altLang="en-US"/>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t>5</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t>6</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t>11</a:t>
            </a:fld>
            <a:endParaRPr lang="en-US" altLang="en-US"/>
          </a:p>
        </p:txBody>
      </p:sp>
    </p:spTree>
    <p:extLst>
      <p:ext uri="{BB962C8B-B14F-4D97-AF65-F5344CB8AC3E}">
        <p14:creationId xmlns:p14="http://schemas.microsoft.com/office/powerpoint/2010/main" val="4116049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t>13</a:t>
            </a:fld>
            <a:endParaRPr lang="en-US" altLang="en-US"/>
          </a:p>
        </p:txBody>
      </p:sp>
    </p:spTree>
    <p:extLst>
      <p:ext uri="{BB962C8B-B14F-4D97-AF65-F5344CB8AC3E}">
        <p14:creationId xmlns:p14="http://schemas.microsoft.com/office/powerpoint/2010/main" val="3583986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t>14</a:t>
            </a:fld>
            <a:endParaRPr lang="en-US" altLang="en-US"/>
          </a:p>
        </p:txBody>
      </p:sp>
    </p:spTree>
    <p:extLst>
      <p:ext uri="{BB962C8B-B14F-4D97-AF65-F5344CB8AC3E}">
        <p14:creationId xmlns:p14="http://schemas.microsoft.com/office/powerpoint/2010/main" val="4149598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ltGray">
          <a:xfrm>
            <a:off x="0" y="0"/>
            <a:ext cx="9144000" cy="3851275"/>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3846513"/>
            <a:ext cx="9144000" cy="33337"/>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ctrTitle"/>
          </p:nvPr>
        </p:nvSpPr>
        <p:spPr>
          <a:xfrm>
            <a:off x="685800" y="2516886"/>
            <a:ext cx="8077200" cy="1255014"/>
          </a:xfrm>
        </p:spPr>
        <p:txBody>
          <a:bodyPr tIns="0" bIns="0" anchor="t"/>
          <a:lstStyle>
            <a:lvl1pPr algn="l">
              <a:defRPr sz="4700" b="1"/>
            </a:lvl1pPr>
          </a:lstStyle>
          <a:p>
            <a:r>
              <a:rPr lang="en-US"/>
              <a:t>Click to edit Master title style</a:t>
            </a:r>
          </a:p>
        </p:txBody>
      </p:sp>
      <p:sp>
        <p:nvSpPr>
          <p:cNvPr id="3" name="Subtitle 2"/>
          <p:cNvSpPr>
            <a:spLocks noGrp="1"/>
          </p:cNvSpPr>
          <p:nvPr>
            <p:ph type="subTitle" idx="1"/>
          </p:nvPr>
        </p:nvSpPr>
        <p:spPr>
          <a:xfrm>
            <a:off x="685800" y="1371600"/>
            <a:ext cx="8077200" cy="1124712"/>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p:cNvSpPr>
            <a:spLocks noGrp="1"/>
          </p:cNvSpPr>
          <p:nvPr>
            <p:ph type="dt" sz="half" idx="10"/>
          </p:nvPr>
        </p:nvSpPr>
        <p:spPr/>
        <p:txBody>
          <a:bodyPr/>
          <a:lstStyle>
            <a:lvl1pPr>
              <a:defRPr/>
            </a:lvl1pPr>
          </a:lstStyle>
          <a:p>
            <a:pPr>
              <a:defRPr/>
            </a:pPr>
            <a:fld id="{A0098F1B-732B-4B15-AFB8-71C8E10A67EF}" type="datetime3">
              <a:rPr lang="en-US" smtClean="0"/>
              <a:t>5 June 2025</a:t>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C0A8E10E-36D1-42AB-939C-34BEB33CD9E4}" type="slidenum">
              <a:rPr lang="en-US" altLang="en-US"/>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6586"/>
            <a:ext cx="8229600" cy="939546"/>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6006545-E01F-4999-8435-D98DCEF39518}" type="datetime3">
              <a:rPr lang="en-US" smtClean="0"/>
              <a:t>5 June 2025</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E14ABD8-B1EB-4C07-9937-C8C4E38BDF00}"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ltGray">
          <a:xfrm>
            <a:off x="0" y="0"/>
            <a:ext cx="9144000" cy="1952625"/>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1952625"/>
            <a:ext cx="9144000" cy="33338"/>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49808" y="89154"/>
            <a:ext cx="8013192" cy="1227582"/>
          </a:xfrm>
        </p:spPr>
        <p:txBody>
          <a:bodyPr tIns="0" rIns="91440" bIns="0" anchor="b"/>
          <a:lstStyle>
            <a:lvl1pPr algn="l">
              <a:defRPr sz="4700" b="1" cap="none" baseline="0"/>
            </a:lvl1pPr>
          </a:lstStyle>
          <a:p>
            <a:r>
              <a:rPr lang="en-US"/>
              <a:t>Click to edit Master title style</a:t>
            </a:r>
          </a:p>
        </p:txBody>
      </p:sp>
      <p:sp>
        <p:nvSpPr>
          <p:cNvPr id="3" name="Text Placeholder 2"/>
          <p:cNvSpPr>
            <a:spLocks noGrp="1"/>
          </p:cNvSpPr>
          <p:nvPr>
            <p:ph type="body" idx="1"/>
          </p:nvPr>
        </p:nvSpPr>
        <p:spPr>
          <a:xfrm>
            <a:off x="740664" y="1371600"/>
            <a:ext cx="8022336" cy="514350"/>
          </a:xfrm>
        </p:spPr>
        <p:txBody>
          <a:bodyPr lIns="146304" tIns="0" rIns="45720" bIns="0"/>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E6564B89-5B64-4722-B4EE-2C1A1CA3E7C2}" type="datetime3">
              <a:rPr lang="en-US" smtClean="0"/>
              <a:t>5 June 2025</a:t>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BEE0AD74-942B-45F6-8EEE-203197083F56}" type="slidenum">
              <a:rPr lang="en-US" altLang="en-US"/>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0452"/>
            <a:ext cx="4038600" cy="346786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0452"/>
            <a:ext cx="4038600" cy="3467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84AB397-A81A-4931-B8F2-9CA8F945AB0F}" type="datetime3">
              <a:rPr lang="en-US" smtClean="0"/>
              <a:t>5 June 2025</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B554FDC-F986-4516-81A3-5CBC9634E9C1}"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4241"/>
            <a:ext cx="4040188" cy="536516"/>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37134"/>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4241"/>
            <a:ext cx="4041775" cy="536516"/>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37134"/>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C0F3814-7D68-41F9-8E1F-730F476A46FC}" type="datetime3">
              <a:rPr lang="en-US" smtClean="0"/>
              <a:t>5 June 2025</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2A63921-D0A8-45BD-ADF0-24CC5F135FEC}"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FE02CD6-32A7-40FD-A976-CDC217CE51EF}" type="datetime3">
              <a:rPr lang="en-US" smtClean="0"/>
              <a:t>5 June 2025</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4CE540F1-D866-4735-9E65-A1952EADD02D}"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AE7E594E-F475-41AD-BB75-6D6605CEE27F}" type="datetime3">
              <a:rPr lang="en-US" smtClean="0"/>
              <a:t>5 June 2025</a:t>
            </a:fld>
            <a:endParaRPr lang="en-US" dirty="0"/>
          </a:p>
        </p:txBody>
      </p:sp>
      <p:sp>
        <p:nvSpPr>
          <p:cNvPr id="3" name="Footer Placeholder 2"/>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4" name="Slide Number Placeholder 3"/>
          <p:cNvSpPr>
            <a:spLocks noGrp="1"/>
          </p:cNvSpPr>
          <p:nvPr>
            <p:ph type="sldNum" sz="quarter" idx="12"/>
          </p:nvPr>
        </p:nvSpPr>
        <p:spPr/>
        <p:txBody>
          <a:bodyPr/>
          <a:lstStyle>
            <a:lvl1pPr>
              <a:defRPr smtClean="0"/>
            </a:lvl1pPr>
          </a:lstStyle>
          <a:p>
            <a:pPr>
              <a:defRPr/>
            </a:pPr>
            <a:fld id="{2571F5BB-190B-45BA-B754-2541F8CA6F46}"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bwMode="invGray">
          <a:xfrm>
            <a:off x="2855913" y="0"/>
            <a:ext cx="46037" cy="1090613"/>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1090613"/>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7838" y="114300"/>
            <a:ext cx="2523744" cy="733806"/>
          </a:xfrm>
        </p:spPr>
        <p:txBody>
          <a:bodyPr lIns="73152" bIns="0" anchor="b">
            <a:sp3d prstMaterial="matte"/>
          </a:bodyPr>
          <a:lstStyle>
            <a:lvl1pPr algn="l">
              <a:defRPr sz="2000" b="0"/>
            </a:lvl1pPr>
          </a:lstStyle>
          <a:p>
            <a:r>
              <a:rPr lang="en-US"/>
              <a:t>Click to edit Master title style</a:t>
            </a:r>
          </a:p>
        </p:txBody>
      </p:sp>
      <p:sp>
        <p:nvSpPr>
          <p:cNvPr id="3" name="Content Placeholder 2"/>
          <p:cNvSpPr>
            <a:spLocks noGrp="1"/>
          </p:cNvSpPr>
          <p:nvPr>
            <p:ph idx="1"/>
          </p:nvPr>
        </p:nvSpPr>
        <p:spPr>
          <a:xfrm>
            <a:off x="3019378" y="1307350"/>
            <a:ext cx="5920641" cy="34191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838" y="1297514"/>
            <a:ext cx="2468880" cy="342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fld id="{91E2B4D4-B6E2-47FD-85E2-7D101084715D}" type="datetime3">
              <a:rPr lang="en-US" smtClean="0"/>
              <a:t>5 June 2025</a:t>
            </a:fld>
            <a:endParaRPr lang="en-US" dirty="0"/>
          </a:p>
        </p:txBody>
      </p:sp>
      <p:sp>
        <p:nvSpPr>
          <p:cNvPr id="8" name="Footer Placeholder 5"/>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9" name="Slide Number Placeholder 6"/>
          <p:cNvSpPr>
            <a:spLocks noGrp="1"/>
          </p:cNvSpPr>
          <p:nvPr>
            <p:ph type="sldNum" sz="quarter" idx="12"/>
          </p:nvPr>
        </p:nvSpPr>
        <p:spPr/>
        <p:txBody>
          <a:bodyPr/>
          <a:lstStyle>
            <a:lvl1pPr>
              <a:defRPr smtClean="0"/>
            </a:lvl1pPr>
          </a:lstStyle>
          <a:p>
            <a:pPr>
              <a:defRPr/>
            </a:pPr>
            <a:fld id="{4B3D1EAA-7E8D-49EA-BCBB-3C5BA424400D}"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Rectangle 4"/>
          <p:cNvSpPr/>
          <p:nvPr/>
        </p:nvSpPr>
        <p:spPr>
          <a:xfrm>
            <a:off x="2855913" y="0"/>
            <a:ext cx="46037" cy="51435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51435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4592" y="116586"/>
            <a:ext cx="2525150" cy="733806"/>
          </a:xfrm>
        </p:spPr>
        <p:txBody>
          <a:bodyPr lIns="73152" bIns="0" anchor="b">
            <a:sp3d prstMaterial="matte"/>
          </a:bodyPr>
          <a:lstStyle>
            <a:lvl1pPr algn="l">
              <a:defRPr sz="2000" b="0"/>
            </a:lvl1pPr>
          </a:lstStyle>
          <a:p>
            <a:r>
              <a:rPr lang="en-US"/>
              <a:t>Click to edit Master title style</a:t>
            </a:r>
          </a:p>
        </p:txBody>
      </p:sp>
      <p:sp>
        <p:nvSpPr>
          <p:cNvPr id="3" name="Picture Placeholder 2"/>
          <p:cNvSpPr>
            <a:spLocks noGrp="1"/>
          </p:cNvSpPr>
          <p:nvPr>
            <p:ph type="pic" idx="1"/>
          </p:nvPr>
        </p:nvSpPr>
        <p:spPr>
          <a:xfrm>
            <a:off x="2903806" y="1113606"/>
            <a:ext cx="6247397" cy="4029894"/>
          </a:xfrm>
          <a:solidFill>
            <a:schemeClr val="bg2">
              <a:shade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64592" y="1296162"/>
            <a:ext cx="2468880" cy="342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165100" y="877888"/>
            <a:ext cx="2522538" cy="150812"/>
          </a:xfrm>
        </p:spPr>
        <p:txBody>
          <a:bodyPr/>
          <a:lstStyle>
            <a:lvl1pPr>
              <a:defRPr/>
            </a:lvl1pPr>
          </a:lstStyle>
          <a:p>
            <a:pPr>
              <a:defRPr/>
            </a:pPr>
            <a:fld id="{22C41680-3D9B-4FE7-ADBA-79948EF16D96}" type="datetime3">
              <a:rPr lang="en-US" smtClean="0"/>
              <a:t>5 June 2025</a:t>
            </a:fld>
            <a:endParaRPr lang="en-US" dirty="0"/>
          </a:p>
        </p:txBody>
      </p:sp>
      <p:sp>
        <p:nvSpPr>
          <p:cNvPr id="8" name="Footer Placeholder 5"/>
          <p:cNvSpPr>
            <a:spLocks noGrp="1"/>
          </p:cNvSpPr>
          <p:nvPr>
            <p:ph type="ftr" sz="quarter" idx="11"/>
          </p:nvPr>
        </p:nvSpPr>
        <p:spPr>
          <a:xfrm>
            <a:off x="3035300" y="877888"/>
            <a:ext cx="5194300" cy="150812"/>
          </a:xfrm>
        </p:spPr>
        <p:txBody>
          <a:bodyPr/>
          <a:lstStyle>
            <a:lvl1pPr>
              <a:defRPr>
                <a:solidFill>
                  <a:schemeClr val="bg1">
                    <a:shade val="50000"/>
                  </a:schemeClr>
                </a:solidFill>
              </a:defRPr>
            </a:lvl1pPr>
          </a:lstStyle>
          <a:p>
            <a:pPr>
              <a:defRPr/>
            </a:pPr>
            <a:r>
              <a:rPr lang="en-IN"/>
              <a:t>0  th REVIEW PRESENTATION </a:t>
            </a:r>
            <a:endParaRPr lang="en-US" dirty="0"/>
          </a:p>
        </p:txBody>
      </p:sp>
      <p:sp>
        <p:nvSpPr>
          <p:cNvPr id="9" name="Slide Number Placeholder 6"/>
          <p:cNvSpPr>
            <a:spLocks noGrp="1"/>
          </p:cNvSpPr>
          <p:nvPr>
            <p:ph type="sldNum" sz="quarter" idx="12"/>
          </p:nvPr>
        </p:nvSpPr>
        <p:spPr>
          <a:xfrm>
            <a:off x="8339138" y="877888"/>
            <a:ext cx="733425" cy="150812"/>
          </a:xfrm>
        </p:spPr>
        <p:txBody>
          <a:bodyPr/>
          <a:lstStyle>
            <a:lvl1pPr>
              <a:defRPr smtClean="0"/>
            </a:lvl1pPr>
          </a:lstStyle>
          <a:p>
            <a:pPr>
              <a:defRPr/>
            </a:pPr>
            <a:fld id="{7B93E55C-A662-4067-BE20-A4D82E579A38}" type="slidenum">
              <a:rPr lang="en-US" altLang="en-US"/>
              <a:t>‹#›</a:t>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724B062-6228-41C2-ABDD-D7148789000D}" type="datetime3">
              <a:rPr lang="en-US" smtClean="0"/>
              <a:t>5 June 2025</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A0C11DA-FA02-4E33-93FC-C378FAF95FBA}"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invGray">
          <a:xfrm>
            <a:off x="6599238" y="0"/>
            <a:ext cx="46037" cy="51435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ltGray">
          <a:xfrm>
            <a:off x="6648450" y="0"/>
            <a:ext cx="2514600" cy="51435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Vertical Title 1"/>
          <p:cNvSpPr>
            <a:spLocks noGrp="1"/>
          </p:cNvSpPr>
          <p:nvPr>
            <p:ph type="title" orient="vert"/>
          </p:nvPr>
        </p:nvSpPr>
        <p:spPr>
          <a:xfrm>
            <a:off x="6781800" y="205980"/>
            <a:ext cx="19050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60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84C56A4E-C062-4A3C-A7D1-75769F469492}" type="datetime3">
              <a:rPr lang="en-US" smtClean="0"/>
              <a:t>5 June 2025</a:t>
            </a:fld>
            <a:endParaRPr lang="en-US" dirty="0"/>
          </a:p>
        </p:txBody>
      </p:sp>
      <p:sp>
        <p:nvSpPr>
          <p:cNvPr id="7" name="Footer Placeholder 4"/>
          <p:cNvSpPr>
            <a:spLocks noGrp="1"/>
          </p:cNvSpPr>
          <p:nvPr>
            <p:ph type="ftr" sz="quarter" idx="11"/>
          </p:nvPr>
        </p:nvSpPr>
        <p:spPr>
          <a:xfrm>
            <a:off x="2640013" y="4783138"/>
            <a:ext cx="3836987" cy="273050"/>
          </a:xfrm>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lvl1pPr>
          </a:lstStyle>
          <a:p>
            <a:pPr>
              <a:defRPr/>
            </a:pPr>
            <a:fld id="{B1E085C4-C07B-4C80-B337-90438D59D3C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invGray">
          <a:xfrm>
            <a:off x="0" y="1076325"/>
            <a:ext cx="9144000" cy="34925"/>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p:cNvSpPr/>
          <p:nvPr/>
        </p:nvSpPr>
        <p:spPr bwMode="ltGray">
          <a:xfrm>
            <a:off x="0" y="0"/>
            <a:ext cx="9144000" cy="1074738"/>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Placeholder 1"/>
          <p:cNvSpPr>
            <a:spLocks noGrp="1"/>
          </p:cNvSpPr>
          <p:nvPr>
            <p:ph type="title"/>
          </p:nvPr>
        </p:nvSpPr>
        <p:spPr>
          <a:xfrm>
            <a:off x="457200" y="114300"/>
            <a:ext cx="8229600" cy="938213"/>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lang="en-US"/>
              <a:t>Click to edit Master title style</a:t>
            </a:r>
          </a:p>
        </p:txBody>
      </p:sp>
      <p:sp>
        <p:nvSpPr>
          <p:cNvPr id="1029" name="Text Placeholder 2"/>
          <p:cNvSpPr>
            <a:spLocks noGrp="1"/>
          </p:cNvSpPr>
          <p:nvPr>
            <p:ph type="body" idx="1"/>
          </p:nvPr>
        </p:nvSpPr>
        <p:spPr bwMode="auto">
          <a:xfrm>
            <a:off x="457200" y="1331913"/>
            <a:ext cx="8229600" cy="3468687"/>
          </a:xfrm>
          <a:prstGeom prst="rect">
            <a:avLst/>
          </a:prstGeom>
          <a:noFill/>
          <a:ln w="9525">
            <a:noFill/>
            <a:miter lim="800000"/>
          </a:ln>
        </p:spPr>
        <p:txBody>
          <a:bodyPr vert="horz" wrap="square" lIns="54864" tIns="9144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4857750"/>
            <a:ext cx="2133600" cy="206375"/>
          </a:xfrm>
          <a:prstGeom prst="rect">
            <a:avLst/>
          </a:prstGeom>
        </p:spPr>
        <p:txBody>
          <a:bodyPr vert="horz" lIns="109728" rIns="45720" bIns="0" rtlCol="0" anchor="b"/>
          <a:lstStyle>
            <a:lvl1pPr algn="l" eaLnBrk="1" latinLnBrk="0" hangingPunct="1">
              <a:defRPr kumimoji="0" sz="1200">
                <a:solidFill>
                  <a:schemeClr val="tx1">
                    <a:tint val="95000"/>
                  </a:schemeClr>
                </a:solidFill>
                <a:latin typeface="Arial" panose="020B0604020202020204" pitchFamily="34" charset="0"/>
                <a:cs typeface="Arial" panose="020B0604020202020204" pitchFamily="34" charset="0"/>
              </a:defRPr>
            </a:lvl1pPr>
          </a:lstStyle>
          <a:p>
            <a:pPr>
              <a:defRPr/>
            </a:pPr>
            <a:fld id="{53602E61-5DE4-483D-89FA-8265F0642731}" type="datetime3">
              <a:rPr lang="en-US" smtClean="0"/>
              <a:t>5 June 2025</a:t>
            </a:fld>
            <a:endParaRPr lang="en-US" dirty="0"/>
          </a:p>
        </p:txBody>
      </p:sp>
      <p:sp>
        <p:nvSpPr>
          <p:cNvPr id="5" name="Footer Placeholder 4"/>
          <p:cNvSpPr>
            <a:spLocks noGrp="1"/>
          </p:cNvSpPr>
          <p:nvPr>
            <p:ph type="ftr" sz="quarter" idx="3"/>
          </p:nvPr>
        </p:nvSpPr>
        <p:spPr>
          <a:xfrm>
            <a:off x="2640013" y="4857750"/>
            <a:ext cx="5508625" cy="206375"/>
          </a:xfrm>
          <a:prstGeom prst="rect">
            <a:avLst/>
          </a:prstGeom>
        </p:spPr>
        <p:txBody>
          <a:bodyPr vert="horz" lIns="45720" rIns="45720" bIns="0" rtlCol="0" anchor="b"/>
          <a:lstStyle>
            <a:lvl1pPr algn="l" eaLnBrk="1" latinLnBrk="0" hangingPunct="1">
              <a:defRPr kumimoji="0" sz="1200">
                <a:solidFill>
                  <a:schemeClr val="tx1">
                    <a:tint val="95000"/>
                  </a:schemeClr>
                </a:solidFill>
                <a:latin typeface="Arial" panose="020B0604020202020204" pitchFamily="34" charset="0"/>
                <a:cs typeface="Arial" panose="020B0604020202020204" pitchFamily="34" charset="0"/>
              </a:defRPr>
            </a:lvl1pPr>
          </a:lstStyle>
          <a:p>
            <a:pPr>
              <a:defRPr/>
            </a:pPr>
            <a:r>
              <a:rPr lang="en-IN"/>
              <a:t>0  th REVIEW PRESENTATION </a:t>
            </a:r>
            <a:endParaRPr lang="en-US" dirty="0"/>
          </a:p>
        </p:txBody>
      </p:sp>
      <p:sp>
        <p:nvSpPr>
          <p:cNvPr id="6" name="Slide Number Placeholder 5"/>
          <p:cNvSpPr>
            <a:spLocks noGrp="1"/>
          </p:cNvSpPr>
          <p:nvPr>
            <p:ph type="sldNum" sz="quarter" idx="4"/>
          </p:nvPr>
        </p:nvSpPr>
        <p:spPr>
          <a:xfrm>
            <a:off x="8204200" y="4857750"/>
            <a:ext cx="733425" cy="206375"/>
          </a:xfrm>
          <a:prstGeom prst="rect">
            <a:avLst/>
          </a:prstGeom>
        </p:spPr>
        <p:txBody>
          <a:bodyPr vert="horz" wrap="square" lIns="91440" tIns="45720" rIns="91440" bIns="0" numCol="1" anchor="b" anchorCtr="0" compatLnSpc="1"/>
          <a:lstStyle>
            <a:lvl1pPr algn="r" eaLnBrk="1" hangingPunct="1">
              <a:defRPr sz="1200" smtClean="0">
                <a:solidFill>
                  <a:srgbClr val="3F3F3F"/>
                </a:solidFill>
              </a:defRPr>
            </a:lvl1pPr>
          </a:lstStyle>
          <a:p>
            <a:pPr>
              <a:defRPr/>
            </a:pPr>
            <a:fld id="{D78D2778-B29C-49DB-A26C-44F5760A332D}"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eaLnBrk="0" fontAlgn="base" hangingPunct="0">
        <a:spcBef>
          <a:spcPct val="0"/>
        </a:spcBef>
        <a:spcAft>
          <a:spcPct val="0"/>
        </a:spcAft>
        <a:defRPr sz="4500" b="1" kern="1200">
          <a:solidFill>
            <a:srgbClr val="FFC800"/>
          </a:solidFill>
          <a:latin typeface="+mj-lt"/>
          <a:ea typeface="+mj-ea"/>
          <a:cs typeface="+mj-cs"/>
        </a:defRPr>
      </a:lvl1pPr>
      <a:lvl2pPr algn="l" rtl="0" eaLnBrk="0" fontAlgn="base" hangingPunct="0">
        <a:spcBef>
          <a:spcPct val="0"/>
        </a:spcBef>
        <a:spcAft>
          <a:spcPct val="0"/>
        </a:spcAft>
        <a:defRPr sz="4500" b="1">
          <a:solidFill>
            <a:srgbClr val="FFC800"/>
          </a:solidFill>
          <a:latin typeface="Corbel" panose="020B0503020204020204" pitchFamily="34" charset="0"/>
        </a:defRPr>
      </a:lvl2pPr>
      <a:lvl3pPr algn="l" rtl="0" eaLnBrk="0" fontAlgn="base" hangingPunct="0">
        <a:spcBef>
          <a:spcPct val="0"/>
        </a:spcBef>
        <a:spcAft>
          <a:spcPct val="0"/>
        </a:spcAft>
        <a:defRPr sz="4500" b="1">
          <a:solidFill>
            <a:srgbClr val="FFC800"/>
          </a:solidFill>
          <a:latin typeface="Corbel" panose="020B0503020204020204" pitchFamily="34" charset="0"/>
        </a:defRPr>
      </a:lvl3pPr>
      <a:lvl4pPr algn="l" rtl="0" eaLnBrk="0" fontAlgn="base" hangingPunct="0">
        <a:spcBef>
          <a:spcPct val="0"/>
        </a:spcBef>
        <a:spcAft>
          <a:spcPct val="0"/>
        </a:spcAft>
        <a:defRPr sz="4500" b="1">
          <a:solidFill>
            <a:srgbClr val="FFC800"/>
          </a:solidFill>
          <a:latin typeface="Corbel" panose="020B0503020204020204" pitchFamily="34" charset="0"/>
        </a:defRPr>
      </a:lvl4pPr>
      <a:lvl5pPr algn="l" rtl="0" eaLnBrk="0" fontAlgn="base" hangingPunct="0">
        <a:spcBef>
          <a:spcPct val="0"/>
        </a:spcBef>
        <a:spcAft>
          <a:spcPct val="0"/>
        </a:spcAft>
        <a:defRPr sz="4500" b="1">
          <a:solidFill>
            <a:srgbClr val="FFC800"/>
          </a:solidFill>
          <a:latin typeface="Corbel" panose="020B0503020204020204" pitchFamily="34" charset="0"/>
        </a:defRPr>
      </a:lvl5pPr>
      <a:lvl6pPr marL="457200" algn="l" rtl="0" fontAlgn="base">
        <a:spcBef>
          <a:spcPct val="0"/>
        </a:spcBef>
        <a:spcAft>
          <a:spcPct val="0"/>
        </a:spcAft>
        <a:defRPr sz="4500" b="1">
          <a:solidFill>
            <a:srgbClr val="FFC800"/>
          </a:solidFill>
          <a:latin typeface="Corbel" panose="020B0503020204020204" pitchFamily="34" charset="0"/>
        </a:defRPr>
      </a:lvl6pPr>
      <a:lvl7pPr marL="914400" algn="l" rtl="0" fontAlgn="base">
        <a:spcBef>
          <a:spcPct val="0"/>
        </a:spcBef>
        <a:spcAft>
          <a:spcPct val="0"/>
        </a:spcAft>
        <a:defRPr sz="4500" b="1">
          <a:solidFill>
            <a:srgbClr val="FFC800"/>
          </a:solidFill>
          <a:latin typeface="Corbel" panose="020B0503020204020204" pitchFamily="34" charset="0"/>
        </a:defRPr>
      </a:lvl7pPr>
      <a:lvl8pPr marL="1371600" algn="l" rtl="0" fontAlgn="base">
        <a:spcBef>
          <a:spcPct val="0"/>
        </a:spcBef>
        <a:spcAft>
          <a:spcPct val="0"/>
        </a:spcAft>
        <a:defRPr sz="4500" b="1">
          <a:solidFill>
            <a:srgbClr val="FFC800"/>
          </a:solidFill>
          <a:latin typeface="Corbel" panose="020B0503020204020204" pitchFamily="34" charset="0"/>
        </a:defRPr>
      </a:lvl8pPr>
      <a:lvl9pPr marL="1828800" algn="l" rtl="0" fontAlgn="base">
        <a:spcBef>
          <a:spcPct val="0"/>
        </a:spcBef>
        <a:spcAft>
          <a:spcPct val="0"/>
        </a:spcAft>
        <a:defRPr sz="4500" b="1">
          <a:solidFill>
            <a:srgbClr val="FFC800"/>
          </a:solidFill>
          <a:latin typeface="Corbel" panose="020B0503020204020204" pitchFamily="34" charset="0"/>
        </a:defRPr>
      </a:lvl9pPr>
    </p:titleStyle>
    <p:bodyStyle>
      <a:lvl1pPr marL="438150" indent="-319405" algn="l" rtl="0" eaLnBrk="0" fontAlgn="base" hangingPunct="0">
        <a:spcBef>
          <a:spcPct val="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anose="05000000000000000000" pitchFamily="2" charset="2"/>
        <a:buChar char=""/>
        <a:defRPr sz="2800" kern="1200">
          <a:solidFill>
            <a:schemeClr val="tx1"/>
          </a:solidFill>
          <a:latin typeface="+mn-lt"/>
          <a:ea typeface="+mn-ea"/>
          <a:cs typeface="+mn-cs"/>
        </a:defRPr>
      </a:lvl2pPr>
      <a:lvl3pPr marL="995680" indent="-228600" algn="l" rtl="0" eaLnBrk="0" fontAlgn="base" hangingPunct="0">
        <a:spcBef>
          <a:spcPct val="20000"/>
        </a:spcBef>
        <a:spcAft>
          <a:spcPct val="0"/>
        </a:spcAft>
        <a:buClr>
          <a:srgbClr val="E66C7D"/>
        </a:buClr>
        <a:buFont typeface="Arial" panose="020B0604020202020204" pitchFamily="34" charset="0"/>
        <a:buChar char="▪"/>
        <a:defRPr sz="2400" kern="1200">
          <a:solidFill>
            <a:schemeClr val="tx1"/>
          </a:solidFill>
          <a:latin typeface="+mn-lt"/>
          <a:ea typeface="+mn-ea"/>
          <a:cs typeface="+mn-cs"/>
        </a:defRPr>
      </a:lvl3pPr>
      <a:lvl4pPr marL="1216025" indent="-182880" algn="l" rtl="0" eaLnBrk="0" fontAlgn="base" hangingPunct="0">
        <a:spcBef>
          <a:spcPct val="20000"/>
        </a:spcBef>
        <a:spcAft>
          <a:spcPct val="0"/>
        </a:spcAft>
        <a:buClr>
          <a:srgbClr val="6BB76D"/>
        </a:buClr>
        <a:buFont typeface="Arial" panose="020B0604020202020204" pitchFamily="34" charset="0"/>
        <a:buChar char="▪"/>
        <a:defRPr sz="2000" kern="1200">
          <a:solidFill>
            <a:schemeClr val="tx1"/>
          </a:solidFill>
          <a:latin typeface="+mn-lt"/>
          <a:ea typeface="+mn-ea"/>
          <a:cs typeface="+mn-cs"/>
        </a:defRPr>
      </a:lvl4pPr>
      <a:lvl5pPr marL="1425575" indent="-182880" algn="l" rtl="0" eaLnBrk="0" fontAlgn="base" hangingPunct="0">
        <a:spcBef>
          <a:spcPct val="20000"/>
        </a:spcBef>
        <a:spcAft>
          <a:spcPct val="0"/>
        </a:spcAft>
        <a:buClr>
          <a:srgbClr val="E88651"/>
        </a:buClr>
        <a:buFont typeface="Wingdings 3" panose="05040102010807070707" pitchFamily="18" charset="2"/>
        <a:buChar char=""/>
        <a:defRPr lang="en-US" sz="2000" kern="1200">
          <a:solidFill>
            <a:schemeClr val="tx1"/>
          </a:solidFill>
          <a:latin typeface="+mn-lt"/>
          <a:ea typeface="+mn-ea"/>
          <a:cs typeface="+mn-cs"/>
        </a:defRPr>
      </a:lvl5pPr>
      <a:lvl6pPr marL="1627505" indent="-182880" algn="l" rtl="0" eaLnBrk="1" latinLnBrk="0" hangingPunct="1">
        <a:spcBef>
          <a:spcPct val="20000"/>
        </a:spcBef>
        <a:buClr>
          <a:schemeClr val="accent6"/>
        </a:buClr>
        <a:buSzPct val="100000"/>
        <a:buFont typeface="Wingdings 2" panose="05020102010507070707"/>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panose="05020102010507070707"/>
        <a:buChar char=""/>
        <a:defRPr kumimoji="0" sz="1800" kern="1200">
          <a:solidFill>
            <a:schemeClr val="tx1"/>
          </a:solidFill>
          <a:latin typeface="+mn-lt"/>
          <a:ea typeface="+mn-ea"/>
          <a:cs typeface="+mn-cs"/>
        </a:defRPr>
      </a:lvl7pPr>
      <a:lvl8pPr marL="2030095" indent="-182880" algn="l" rtl="0" eaLnBrk="1" latinLnBrk="0" hangingPunct="1">
        <a:spcBef>
          <a:spcPct val="20000"/>
        </a:spcBef>
        <a:buClr>
          <a:schemeClr val="accent2"/>
        </a:buClr>
        <a:buFont typeface="Wingdings 2" panose="05020102010507070707" pitchFamily="18" charset="2"/>
        <a:buChar char=""/>
        <a:defRPr kumimoji="0" sz="1800" kern="1200">
          <a:solidFill>
            <a:schemeClr val="tx1"/>
          </a:solidFill>
          <a:latin typeface="+mn-lt"/>
          <a:ea typeface="+mn-ea"/>
          <a:cs typeface="+mn-cs"/>
        </a:defRPr>
      </a:lvl8pPr>
      <a:lvl9pPr marL="2231390" indent="-182880" algn="l" rtl="0" eaLnBrk="1" latinLnBrk="0" hangingPunct="1">
        <a:spcBef>
          <a:spcPct val="20000"/>
        </a:spcBef>
        <a:buClr>
          <a:schemeClr val="accent3"/>
        </a:buClr>
        <a:buFont typeface="Wingdings 2" panose="05020102010507070707"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defRPr/>
            </a:pPr>
            <a:r>
              <a:rPr lang="en-IN" sz="3600" dirty="0"/>
              <a:t>M.KUMARASAMY COLLEGE OF ENGINEERING ,  KARUR.</a:t>
            </a:r>
          </a:p>
        </p:txBody>
      </p:sp>
      <p:sp>
        <p:nvSpPr>
          <p:cNvPr id="5" name="Footer Placeholder 4"/>
          <p:cNvSpPr>
            <a:spLocks noGrp="1"/>
          </p:cNvSpPr>
          <p:nvPr>
            <p:ph type="ftr" sz="quarter" idx="11"/>
          </p:nvPr>
        </p:nvSpPr>
        <p:spPr>
          <a:xfrm>
            <a:off x="772236" y="1200150"/>
            <a:ext cx="7772400" cy="2286000"/>
          </a:xfrm>
        </p:spPr>
        <p:txBody>
          <a:bodyPr/>
          <a:lstStyle/>
          <a:p>
            <a:pPr algn="ctr">
              <a:defRPr/>
            </a:pPr>
            <a:endParaRPr lang="en-IN" sz="2500" b="1" dirty="0"/>
          </a:p>
          <a:p>
            <a:pPr algn="ctr">
              <a:defRPr/>
            </a:pPr>
            <a:r>
              <a:rPr lang="en-US" sz="2500" b="1" dirty="0"/>
              <a:t>Department of Electronics and Communication Engineering</a:t>
            </a:r>
            <a:endParaRPr lang="en-IN" sz="2500" b="1" dirty="0"/>
          </a:p>
          <a:p>
            <a:pPr algn="ctr">
              <a:defRPr/>
            </a:pPr>
            <a:r>
              <a:rPr lang="en-IN" sz="2500" b="1" dirty="0"/>
              <a:t>EGB1221-DATABASE MANAGEMENT SYSTEM  </a:t>
            </a:r>
          </a:p>
          <a:p>
            <a:pPr algn="ctr">
              <a:defRPr/>
            </a:pPr>
            <a:r>
              <a:rPr lang="en-IN" sz="2500" b="1" dirty="0"/>
              <a:t>IV Semester (2023-2027 Batch)</a:t>
            </a:r>
          </a:p>
          <a:p>
            <a:pPr algn="ctr">
              <a:defRPr/>
            </a:pPr>
            <a:r>
              <a:rPr lang="en-IN" sz="2500" b="1" u="sng" dirty="0"/>
              <a:t>END SEMESTER REVIEW PRESENTATION </a:t>
            </a:r>
            <a:endParaRPr lang="en-US" sz="2500" b="1" u="sng" dirty="0"/>
          </a:p>
        </p:txBody>
      </p:sp>
      <p:sp>
        <p:nvSpPr>
          <p:cNvPr id="6" name="TextBox 6"/>
          <p:cNvSpPr txBox="1">
            <a:spLocks noChangeArrowheads="1"/>
          </p:cNvSpPr>
          <p:nvPr/>
        </p:nvSpPr>
        <p:spPr bwMode="auto">
          <a:xfrm flipH="1">
            <a:off x="381000" y="3638549"/>
            <a:ext cx="8763000" cy="1200329"/>
          </a:xfrm>
          <a:prstGeom prst="rect">
            <a:avLst/>
          </a:prstGeom>
          <a:noFill/>
          <a:ln w="9525">
            <a:noFill/>
            <a:miter lim="800000"/>
          </a:ln>
        </p:spPr>
        <p:txBody>
          <a:bodyPr wrap="square">
            <a:spAutoFit/>
          </a:bodyPr>
          <a:lstStyle/>
          <a:p>
            <a:pPr lvl="0">
              <a:spcBef>
                <a:spcPts val="0"/>
              </a:spcBef>
              <a:spcAft>
                <a:spcPts val="0"/>
              </a:spcAft>
            </a:pPr>
            <a:r>
              <a:rPr lang="en-US" sz="2400" b="1" dirty="0">
                <a:latin typeface="Times New Roman" panose="02020603050405020304" pitchFamily="18" charset="0"/>
                <a:ea typeface="Arial" panose="020B0604020202020204"/>
                <a:cs typeface="Times New Roman" panose="02020603050405020304" pitchFamily="18" charset="0"/>
                <a:sym typeface="Arial" panose="020B0604020202020204"/>
              </a:rPr>
              <a:t>Register Number	:</a:t>
            </a:r>
            <a:r>
              <a:rPr lang="en-IN" altLang="en-US" sz="2400" b="1" dirty="0">
                <a:latin typeface="Times New Roman" panose="02020603050405020304" pitchFamily="18" charset="0"/>
                <a:cs typeface="Times New Roman" panose="02020603050405020304" pitchFamily="18" charset="0"/>
              </a:rPr>
              <a:t>927623BEC058 . 927623BEC302</a:t>
            </a:r>
            <a:endParaRPr lang="en-US" sz="2400" b="1"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lvl="0">
              <a:spcBef>
                <a:spcPts val="0"/>
              </a:spcBef>
              <a:spcAft>
                <a:spcPts val="0"/>
              </a:spcAft>
            </a:pPr>
            <a:r>
              <a:rPr lang="en-US" sz="2400" b="1" dirty="0">
                <a:latin typeface="Times New Roman" panose="02020603050405020304" pitchFamily="18" charset="0"/>
                <a:ea typeface="Arial" panose="020B0604020202020204"/>
                <a:cs typeface="Times New Roman" panose="02020603050405020304" pitchFamily="18" charset="0"/>
                <a:sym typeface="Arial" panose="020B0604020202020204"/>
              </a:rPr>
              <a:t>Name			:GOKULRAJ B , DARSAN SANJAI SR</a:t>
            </a:r>
            <a:endParaRPr lang="en-IN" altLang="en-US" sz="2400" b="1" dirty="0">
              <a:latin typeface="Times New Roman" panose="02020603050405020304" pitchFamily="18" charset="0"/>
              <a:cs typeface="Times New Roman" panose="02020603050405020304" pitchFamily="18" charset="0"/>
            </a:endParaRPr>
          </a:p>
          <a:p>
            <a:r>
              <a:rPr lang="en-IN" altLang="en-US" sz="2400" b="1" dirty="0">
                <a:latin typeface="Times New Roman" panose="02020603050405020304" pitchFamily="18" charset="0"/>
                <a:cs typeface="Times New Roman" panose="02020603050405020304" pitchFamily="18" charset="0"/>
              </a:rPr>
              <a:t>Date			</a:t>
            </a:r>
            <a:r>
              <a:rPr lang="en-IN" altLang="en-US" sz="2400" b="1" dirty="0" smtClean="0">
                <a:latin typeface="Times New Roman" panose="02020603050405020304" pitchFamily="18" charset="0"/>
                <a:cs typeface="Times New Roman" panose="02020603050405020304" pitchFamily="18" charset="0"/>
              </a:rPr>
              <a:t>:06.06.2025</a:t>
            </a:r>
            <a:endParaRPr lang="en-IN" alt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22302"/>
            <a:ext cx="9144000" cy="1428750"/>
          </a:xfrm>
        </p:spPr>
        <p:txBody>
          <a:bodyPr>
            <a:noAutofit/>
          </a:bodyPr>
          <a:lstStyle/>
          <a:p>
            <a:pPr algn="ctr"/>
            <a:r>
              <a:rPr lang="en-US" sz="4400" dirty="0">
                <a:latin typeface="Times New Roman" panose="02020603050405020304" pitchFamily="18" charset="0"/>
                <a:cs typeface="Times New Roman" panose="02020603050405020304" pitchFamily="18" charset="0"/>
              </a:rPr>
              <a:t>TITLE OF THE PROJECT </a:t>
            </a:r>
            <a:endParaRPr lang="en-US" sz="4400" dirty="0">
              <a:solidFill>
                <a:schemeClr val="accent1">
                  <a:satMod val="150000"/>
                </a:schemeClr>
              </a:solidFill>
              <a:latin typeface="Times New Roman" panose="02020603050405020304" pitchFamily="18" charset="0"/>
              <a:cs typeface="Times New Roman" panose="02020603050405020304" pitchFamily="18" charset="0"/>
            </a:endParaRPr>
          </a:p>
        </p:txBody>
      </p:sp>
      <p:sp>
        <p:nvSpPr>
          <p:cNvPr id="9220" name="TextBox 4"/>
          <p:cNvSpPr txBox="1">
            <a:spLocks noChangeArrowheads="1"/>
          </p:cNvSpPr>
          <p:nvPr/>
        </p:nvSpPr>
        <p:spPr bwMode="auto">
          <a:xfrm>
            <a:off x="0" y="1123950"/>
            <a:ext cx="9081770" cy="4019550"/>
          </a:xfrm>
          <a:prstGeom prst="rect">
            <a:avLst/>
          </a:prstGeom>
          <a:noFill/>
          <a:ln w="9525">
            <a:noFill/>
            <a:miter lim="800000"/>
          </a:ln>
        </p:spPr>
        <p:txBody>
          <a:bodyPr wrap="square">
            <a:noAutofit/>
          </a:bodyPr>
          <a:lstStyle/>
          <a:p>
            <a:pPr algn="ctr"/>
            <a:endParaRPr lang="en-IN" altLang="en-US" sz="3600" b="1" dirty="0"/>
          </a:p>
          <a:p>
            <a:pPr algn="ctr"/>
            <a:endParaRPr lang="en-IN" altLang="en-US" sz="3600" b="1" dirty="0"/>
          </a:p>
          <a:p>
            <a:pPr algn="ctr"/>
            <a:r>
              <a:rPr lang="en-IN" altLang="en-US" sz="3600" b="1" dirty="0"/>
              <a:t>CAR RENTAL SYSTEM</a:t>
            </a:r>
          </a:p>
          <a:p>
            <a:pPr algn="ctr"/>
            <a:endParaRPr lang="en-IN" altLang="en-US" dirty="0"/>
          </a:p>
          <a:p>
            <a:pPr algn="ctr"/>
            <a:r>
              <a:rPr lang="en-IN" altLang="en-US" sz="2000"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22302"/>
            <a:ext cx="9144000" cy="1428750"/>
          </a:xfrm>
        </p:spPr>
        <p:txBody>
          <a:bodyPr>
            <a:noAutofit/>
          </a:bodyPr>
          <a:lstStyle/>
          <a:p>
            <a:r>
              <a:rPr lang="en-US" sz="4400" dirty="0">
                <a:solidFill>
                  <a:schemeClr val="accent1">
                    <a:satMod val="150000"/>
                  </a:schemeClr>
                </a:solidFill>
                <a:latin typeface="+mn-lt"/>
                <a:cs typeface="Times New Roman" panose="02020603050405020304" pitchFamily="18" charset="0"/>
              </a:rPr>
              <a:t>Abstract</a:t>
            </a:r>
          </a:p>
        </p:txBody>
      </p:sp>
      <p:sp>
        <p:nvSpPr>
          <p:cNvPr id="9220" name="TextBox 4"/>
          <p:cNvSpPr txBox="1">
            <a:spLocks noChangeArrowheads="1"/>
          </p:cNvSpPr>
          <p:nvPr/>
        </p:nvSpPr>
        <p:spPr bwMode="auto">
          <a:xfrm>
            <a:off x="685800" y="1504950"/>
            <a:ext cx="7772400" cy="954107"/>
          </a:xfrm>
          <a:prstGeom prst="rect">
            <a:avLst/>
          </a:prstGeom>
          <a:noFill/>
          <a:ln w="9525">
            <a:noFill/>
            <a:miter lim="800000"/>
          </a:ln>
        </p:spPr>
        <p:txBody>
          <a:bodyPr wrap="square">
            <a:spAutoFit/>
          </a:bodyPr>
          <a:lstStyle/>
          <a:p>
            <a:endParaRPr lang="en-IN" altLang="en-US" b="1" dirty="0"/>
          </a:p>
          <a:p>
            <a:endParaRPr lang="en-IN" altLang="en-US" dirty="0"/>
          </a:p>
          <a:p>
            <a:r>
              <a:rPr lang="en-IN" altLang="en-US" sz="2000" dirty="0"/>
              <a:t>	</a:t>
            </a:r>
          </a:p>
        </p:txBody>
      </p:sp>
      <p:sp>
        <p:nvSpPr>
          <p:cNvPr id="5" name="TextBox 4"/>
          <p:cNvSpPr txBox="1"/>
          <p:nvPr/>
        </p:nvSpPr>
        <p:spPr>
          <a:xfrm>
            <a:off x="0" y="1200150"/>
            <a:ext cx="8864600" cy="3854450"/>
          </a:xfrm>
          <a:prstGeom prst="rect">
            <a:avLst/>
          </a:prstGeom>
          <a:noFill/>
        </p:spPr>
        <p:txBody>
          <a:bodyPr wrap="square">
            <a:noAutofit/>
          </a:bodyPr>
          <a:lstStyle/>
          <a:p>
            <a:pPr algn="just"/>
            <a:r>
              <a:rPr lang="en-IN" sz="2400" dirty="0">
                <a:latin typeface="Times New Roman" panose="02020603050405020304" pitchFamily="18" charset="0"/>
                <a:cs typeface="Times New Roman" panose="02020603050405020304" pitchFamily="18" charset="0"/>
              </a:rPr>
              <a:t>The Car Rental System is a database-driven application that manages car availability, customer bookings, and payments. It stores essential details like customer information, car status, rental records, and transactions. Users can browse, book, and pay for rentals easily. The system ensures efficient and secure management of car rentals.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Literature Review</a:t>
            </a:r>
          </a:p>
        </p:txBody>
      </p:sp>
      <p:graphicFrame>
        <p:nvGraphicFramePr>
          <p:cNvPr id="6" name="Table 5"/>
          <p:cNvGraphicFramePr>
            <a:graphicFrameLocks noGrp="1"/>
          </p:cNvGraphicFramePr>
          <p:nvPr/>
        </p:nvGraphicFramePr>
        <p:xfrm>
          <a:off x="152400" y="1276350"/>
          <a:ext cx="8564881" cy="3521118"/>
        </p:xfrm>
        <a:graphic>
          <a:graphicData uri="http://schemas.openxmlformats.org/drawingml/2006/table">
            <a:tbl>
              <a:tblPr firstRow="1" bandRow="1">
                <a:tableStyleId>{5DA37D80-6434-44D0-A028-1B22A696006F}</a:tableStyleId>
              </a:tblPr>
              <a:tblGrid>
                <a:gridCol w="609600"/>
                <a:gridCol w="944880"/>
                <a:gridCol w="2743200"/>
                <a:gridCol w="2590800"/>
                <a:gridCol w="1676401"/>
              </a:tblGrid>
              <a:tr h="595042">
                <a:tc>
                  <a:txBody>
                    <a:bodyPr/>
                    <a:lstStyle/>
                    <a:p>
                      <a:pPr algn="ctr"/>
                      <a:r>
                        <a:rPr lang="en-US" sz="1600" dirty="0">
                          <a:latin typeface="Times New Roman" panose="02020603050405020304" pitchFamily="18" charset="0"/>
                          <a:cs typeface="Times New Roman" panose="02020603050405020304" pitchFamily="18" charset="0"/>
                        </a:rPr>
                        <a:t>Year</a:t>
                      </a:r>
                    </a:p>
                  </a:txBody>
                  <a:tcPr marT="45719" marB="45719"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en-US" sz="160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Authors</a:t>
                      </a: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Title of the Paper </a:t>
                      </a: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Algorithm/</a:t>
                      </a:r>
                    </a:p>
                    <a:p>
                      <a:pPr algn="ctr"/>
                      <a:r>
                        <a:rPr lang="en-US" sz="1600" dirty="0">
                          <a:latin typeface="Times New Roman" panose="02020603050405020304" pitchFamily="18" charset="0"/>
                          <a:cs typeface="Times New Roman" panose="02020603050405020304" pitchFamily="18" charset="0"/>
                        </a:rPr>
                        <a:t>Methodologies/</a:t>
                      </a:r>
                      <a:r>
                        <a:rPr lang="en-US" sz="1600" baseline="0" dirty="0">
                          <a:latin typeface="Times New Roman" panose="02020603050405020304" pitchFamily="18" charset="0"/>
                          <a:cs typeface="Times New Roman" panose="02020603050405020304" pitchFamily="18" charset="0"/>
                        </a:rPr>
                        <a:t> Techniques</a:t>
                      </a:r>
                      <a:endParaRPr lang="en-US" sz="1600" dirty="0">
                        <a:latin typeface="Times New Roman" panose="02020603050405020304" pitchFamily="18" charset="0"/>
                        <a:cs typeface="Times New Roman" panose="02020603050405020304" pitchFamily="18" charset="0"/>
                      </a:endParaRP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Findings</a:t>
                      </a:r>
                    </a:p>
                  </a:txBody>
                  <a:tcPr marT="45719" marB="45719" anchor="ctr"/>
                </a:tc>
              </a:tr>
              <a:tr h="1236501">
                <a:tc>
                  <a:txBody>
                    <a:bodyPr/>
                    <a:lstStyle/>
                    <a:p>
                      <a:pPr algn="ctr"/>
                      <a:r>
                        <a:rPr lang="en-US" altLang="en-US" sz="1600" dirty="0">
                          <a:latin typeface="Times New Roman" panose="02020603050405020304" pitchFamily="18" charset="0"/>
                          <a:cs typeface="Times New Roman" panose="02020603050405020304" pitchFamily="18" charset="0"/>
                        </a:rPr>
                        <a:t>2016</a:t>
                      </a:r>
                    </a:p>
                  </a:txBody>
                  <a:tcPr marT="45719" marB="45719" anchor="ctr"/>
                </a:tc>
                <a:tc>
                  <a:txBody>
                    <a:bodyPr/>
                    <a:lstStyle/>
                    <a:p>
                      <a:pPr algn="ctr"/>
                      <a:r>
                        <a:rPr lang="en-US" altLang="en-US" sz="1600" dirty="0">
                          <a:latin typeface="Times New Roman" panose="02020603050405020304" pitchFamily="18" charset="0"/>
                          <a:cs typeface="Times New Roman" panose="02020603050405020304" pitchFamily="18" charset="0"/>
                        </a:rPr>
                        <a:t>Kumar, S., &amp; Soni, D.</a:t>
                      </a:r>
                    </a:p>
                  </a:txBody>
                  <a:tcPr marT="45719" marB="45719" anchor="ctr"/>
                </a:tc>
                <a:tc>
                  <a:txBody>
                    <a:bodyPr/>
                    <a:lstStyle/>
                    <a:p>
                      <a:pPr algn="l"/>
                      <a:r>
                        <a:rPr lang="en-US" altLang="en-US" sz="1600" dirty="0">
                          <a:latin typeface="Times New Roman" panose="02020603050405020304" pitchFamily="18" charset="0"/>
                          <a:cs typeface="Times New Roman" panose="02020603050405020304" pitchFamily="18" charset="0"/>
                        </a:rPr>
                        <a:t>A Comparative Study of Online Car Rental Systems</a:t>
                      </a:r>
                    </a:p>
                  </a:txBody>
                  <a:tcPr marT="45719" marB="45719" anchor="ctr"/>
                </a:tc>
                <a:tc>
                  <a:txBody>
                    <a:bodyPr/>
                    <a:lstStyle/>
                    <a:p>
                      <a:pPr algn="l"/>
                      <a:r>
                        <a:rPr lang="en-US" altLang="en-US" sz="1500" dirty="0">
                          <a:latin typeface="Times New Roman" panose="02020603050405020304" pitchFamily="18" charset="0"/>
                          <a:cs typeface="Times New Roman" panose="02020603050405020304" pitchFamily="18" charset="0"/>
                        </a:rPr>
                        <a:t>Comparative analysis, case study method</a:t>
                      </a:r>
                    </a:p>
                  </a:txBody>
                  <a:tcPr marT="45719" marB="45719" anchor="ctr"/>
                </a:tc>
                <a:tc>
                  <a:txBody>
                    <a:bodyPr/>
                    <a:lstStyle/>
                    <a:p>
                      <a:pPr algn="l"/>
                      <a:r>
                        <a:rPr lang="en-US" altLang="en-US" sz="1500" b="0" dirty="0">
                          <a:latin typeface="Times New Roman" panose="02020603050405020304" pitchFamily="18" charset="0"/>
                          <a:cs typeface="Times New Roman" panose="02020603050405020304" pitchFamily="18" charset="0"/>
                        </a:rPr>
                        <a:t>Identified functional modules like vehicle listing, booking, and feedback in rental systems.</a:t>
                      </a:r>
                    </a:p>
                  </a:txBody>
                  <a:tcPr marT="45719" marB="45719" anchor="ctr"/>
                </a:tc>
              </a:tr>
              <a:tr h="822972">
                <a:tc>
                  <a:txBody>
                    <a:bodyPr/>
                    <a:lstStyle/>
                    <a:p>
                      <a:pPr algn="ctr"/>
                      <a:r>
                        <a:rPr lang="en-US" altLang="en-US" sz="1600" dirty="0">
                          <a:latin typeface="Times New Roman" panose="02020603050405020304" pitchFamily="18" charset="0"/>
                          <a:cs typeface="Times New Roman" panose="02020603050405020304" pitchFamily="18" charset="0"/>
                        </a:rPr>
                        <a:t>2011</a:t>
                      </a:r>
                    </a:p>
                  </a:txBody>
                  <a:tcPr marT="45719" marB="45719" anchor="ctr"/>
                </a:tc>
                <a:tc>
                  <a:txBody>
                    <a:bodyPr/>
                    <a:lstStyle/>
                    <a:p>
                      <a:r>
                        <a:rPr lang="en-US" altLang="en-US" sz="1600"/>
                        <a:t>Elmasri, R., &amp; Navathe, S. B</a:t>
                      </a:r>
                      <a:r>
                        <a:rPr lang="en-US" altLang="en-US" sz="1100"/>
                        <a:t>.</a:t>
                      </a:r>
                    </a:p>
                  </a:txBody>
                  <a:tcPr marL="0" marR="0" marT="0" marB="0" anchor="ctr"/>
                </a:tc>
                <a:tc>
                  <a:txBody>
                    <a:bodyPr/>
                    <a:lstStyle/>
                    <a:p>
                      <a:pPr algn="l"/>
                      <a:r>
                        <a:rPr lang="en-US" altLang="en-US" sz="1600" dirty="0">
                          <a:latin typeface="Times New Roman" panose="02020603050405020304" pitchFamily="18" charset="0"/>
                          <a:cs typeface="Times New Roman" panose="02020603050405020304" pitchFamily="18" charset="0"/>
                        </a:rPr>
                        <a:t>Fundamentals of Database Systems (6th Edition)</a:t>
                      </a:r>
                    </a:p>
                  </a:txBody>
                  <a:tcPr marT="45719" marB="45719" anchor="ctr"/>
                </a:tc>
                <a:tc>
                  <a:txBody>
                    <a:bodyPr/>
                    <a:lstStyle/>
                    <a:p>
                      <a:r>
                        <a:rPr lang="en-US" altLang="en-US" sz="1400">
                          <a:latin typeface="Times New Roman" panose="02020603050405020304" pitchFamily="18" charset="0"/>
                          <a:cs typeface="Times New Roman" panose="02020603050405020304" pitchFamily="18" charset="0"/>
                        </a:rPr>
                        <a:t>ER modeling, normalization, SQL querying</a:t>
                      </a:r>
                    </a:p>
                  </a:txBody>
                  <a:tcPr marL="0" marR="0" marT="0" marB="0" anchor="ctr"/>
                </a:tc>
                <a:tc>
                  <a:txBody>
                    <a:bodyPr/>
                    <a:lstStyle/>
                    <a:p>
                      <a:pPr algn="l"/>
                      <a:r>
                        <a:rPr lang="en-US" altLang="en-US" sz="1500" b="0" dirty="0">
                          <a:latin typeface="Times New Roman" panose="02020603050405020304" pitchFamily="18" charset="0"/>
                          <a:cs typeface="Times New Roman" panose="02020603050405020304" pitchFamily="18" charset="0"/>
                        </a:rPr>
                        <a:t>Established database design concepts used in backend systems like car rental applications.</a:t>
                      </a:r>
                    </a:p>
                  </a:txBody>
                  <a:tcPr marT="45719" marB="45719"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Identified</a:t>
            </a:r>
            <a:endParaRPr lang="en-IN" dirty="0"/>
          </a:p>
        </p:txBody>
      </p:sp>
      <p:sp>
        <p:nvSpPr>
          <p:cNvPr id="3" name="Content Placeholder 2"/>
          <p:cNvSpPr>
            <a:spLocks noGrp="1"/>
          </p:cNvSpPr>
          <p:nvPr>
            <p:ph idx="1"/>
          </p:nvPr>
        </p:nvSpPr>
        <p:spPr/>
        <p:txBody>
          <a:bodyPr/>
          <a:lstStyle/>
          <a:p>
            <a:pPr algn="just"/>
            <a:r>
              <a:rPr lang="en-US" altLang="en-US" sz="2000" dirty="0">
                <a:latin typeface="Times New Roman" panose="02020603050405020304" pitchFamily="18" charset="0"/>
                <a:cs typeface="Times New Roman" panose="02020603050405020304" pitchFamily="18" charset="0"/>
              </a:rPr>
              <a:t>Inefficient manual recordkeeping for car availability, bookings, and user data.</a:t>
            </a:r>
          </a:p>
          <a:p>
            <a:pPr algn="just"/>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Increased operational delays and customer dissatisfaction.</a:t>
            </a:r>
          </a:p>
          <a:p>
            <a:pPr algn="just"/>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Lack of centralized control and real-time updates in conventional systems.</a:t>
            </a:r>
          </a:p>
          <a:p>
            <a:pPr marL="118745" indent="0" algn="just">
              <a:buNone/>
            </a:pP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Security risks with physical record maintenance and manual payments.</a:t>
            </a:r>
          </a:p>
          <a:p>
            <a:pPr algn="just"/>
            <a:endParaRPr lang="en-US" altLang="en-US" sz="2000" dirty="0">
              <a:latin typeface="Times New Roman" panose="02020603050405020304" pitchFamily="18" charset="0"/>
              <a:cs typeface="Times New Roman" panose="02020603050405020304" pitchFamily="18" charset="0"/>
            </a:endParaRPr>
          </a:p>
          <a:p>
            <a:pPr algn="just"/>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Proposed Solution</a:t>
            </a:r>
          </a:p>
        </p:txBody>
      </p:sp>
      <p:sp>
        <p:nvSpPr>
          <p:cNvPr id="2" name="Text Placeholder 1"/>
          <p:cNvSpPr>
            <a:spLocks noGrp="1"/>
          </p:cNvSpPr>
          <p:nvPr>
            <p:ph type="body" idx="1"/>
          </p:nvPr>
        </p:nvSpPr>
        <p:spPr/>
        <p:txBody>
          <a:bodyPr/>
          <a:lstStyle/>
          <a:p>
            <a:r>
              <a:rPr lang="en-US" altLang="en-US" sz="2000">
                <a:latin typeface="Times New Roman" panose="02020603050405020304" pitchFamily="18" charset="0"/>
                <a:cs typeface="Times New Roman" panose="02020603050405020304" pitchFamily="18" charset="0"/>
              </a:rPr>
              <a:t>Develop a dynamic and responsive web application to :</a:t>
            </a:r>
          </a:p>
          <a:p>
            <a:pPr marL="118745" indent="0">
              <a:buNone/>
            </a:pP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Handle user registration, login, car listings, and booking requests.</a:t>
            </a: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Enable digital payments and live booking confirmations.</a:t>
            </a: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Provide role-based access for users and administrators.</a:t>
            </a: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Store and manage data in a structured relational database.</a:t>
            </a:r>
          </a:p>
          <a:p>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Enhances accessibility, user experience, and admin control.</a:t>
            </a:r>
          </a:p>
          <a:p>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Objectives</a:t>
            </a:r>
          </a:p>
        </p:txBody>
      </p:sp>
      <p:sp>
        <p:nvSpPr>
          <p:cNvPr id="13315" name="Rectangle 3"/>
          <p:cNvSpPr>
            <a:spLocks noGrp="1"/>
          </p:cNvSpPr>
          <p:nvPr>
            <p:ph idx="1"/>
          </p:nvPr>
        </p:nvSpPr>
        <p:spPr/>
        <p:txBody>
          <a:bodyPr/>
          <a:lstStyle/>
          <a:p>
            <a:pPr algn="just"/>
            <a:r>
              <a:rPr lang="en-US" altLang="en-US" sz="2000" dirty="0">
                <a:solidFill>
                  <a:schemeClr val="tx1"/>
                </a:solidFill>
                <a:latin typeface="Times New Roman" panose="02020603050405020304" pitchFamily="18" charset="0"/>
                <a:cs typeface="Times New Roman" panose="02020603050405020304" pitchFamily="18" charset="0"/>
              </a:rPr>
              <a:t>Enable users to book vehicles from anywhere via the web.</a:t>
            </a:r>
          </a:p>
          <a:p>
            <a:pPr algn="just"/>
            <a:endParaRPr lang="en-US" altLang="en-US" sz="2000" dirty="0">
              <a:solidFill>
                <a:schemeClr val="tx1"/>
              </a:solidFill>
              <a:latin typeface="Times New Roman" panose="02020603050405020304" pitchFamily="18" charset="0"/>
              <a:cs typeface="Times New Roman" panose="02020603050405020304" pitchFamily="18" charset="0"/>
            </a:endParaRPr>
          </a:p>
          <a:p>
            <a:pPr algn="just"/>
            <a:r>
              <a:rPr lang="en-US" altLang="en-US" sz="2000" dirty="0">
                <a:solidFill>
                  <a:schemeClr val="tx1"/>
                </a:solidFill>
                <a:latin typeface="Times New Roman" panose="02020603050405020304" pitchFamily="18" charset="0"/>
                <a:cs typeface="Times New Roman" panose="02020603050405020304" pitchFamily="18" charset="0"/>
              </a:rPr>
              <a:t>Minimize human error and paperwork through automated processes.</a:t>
            </a:r>
          </a:p>
          <a:p>
            <a:pPr algn="just"/>
            <a:endParaRPr lang="en-US" altLang="en-US" sz="2000" dirty="0">
              <a:solidFill>
                <a:schemeClr val="tx1"/>
              </a:solidFill>
              <a:latin typeface="Times New Roman" panose="02020603050405020304" pitchFamily="18" charset="0"/>
              <a:cs typeface="Times New Roman" panose="02020603050405020304" pitchFamily="18" charset="0"/>
            </a:endParaRPr>
          </a:p>
          <a:p>
            <a:pPr algn="just"/>
            <a:r>
              <a:rPr lang="en-US" altLang="en-US" sz="2000" dirty="0">
                <a:solidFill>
                  <a:schemeClr val="tx1"/>
                </a:solidFill>
                <a:latin typeface="Times New Roman" panose="02020603050405020304" pitchFamily="18" charset="0"/>
                <a:cs typeface="Times New Roman" panose="02020603050405020304" pitchFamily="18" charset="0"/>
              </a:rPr>
              <a:t>Provide real-time booking status, feedback, and payment handling.</a:t>
            </a:r>
          </a:p>
          <a:p>
            <a:pPr algn="just"/>
            <a:endParaRPr lang="en-US" altLang="en-US" sz="2000" dirty="0">
              <a:solidFill>
                <a:schemeClr val="tx1"/>
              </a:solidFill>
              <a:latin typeface="Times New Roman" panose="02020603050405020304" pitchFamily="18" charset="0"/>
              <a:cs typeface="Times New Roman" panose="02020603050405020304" pitchFamily="18" charset="0"/>
            </a:endParaRPr>
          </a:p>
          <a:p>
            <a:pPr algn="just"/>
            <a:r>
              <a:rPr lang="en-US" altLang="en-US" sz="2000" dirty="0">
                <a:solidFill>
                  <a:schemeClr val="tx1"/>
                </a:solidFill>
                <a:latin typeface="Times New Roman" panose="02020603050405020304" pitchFamily="18" charset="0"/>
                <a:cs typeface="Times New Roman" panose="02020603050405020304" pitchFamily="18" charset="0"/>
              </a:rPr>
              <a:t>Secure user data and allow only authenticated access.</a:t>
            </a:r>
          </a:p>
          <a:p>
            <a:pPr algn="just"/>
            <a:endParaRPr lang="en-US" altLang="en-US" sz="2000" dirty="0">
              <a:solidFill>
                <a:schemeClr val="tx1"/>
              </a:solidFill>
              <a:latin typeface="Times New Roman" panose="02020603050405020304" pitchFamily="18" charset="0"/>
              <a:cs typeface="Times New Roman" panose="02020603050405020304" pitchFamily="18" charset="0"/>
            </a:endParaRPr>
          </a:p>
          <a:p>
            <a:pPr algn="just"/>
            <a:r>
              <a:rPr lang="en-US" altLang="en-US" sz="2000" dirty="0">
                <a:solidFill>
                  <a:schemeClr val="tx1"/>
                </a:solidFill>
                <a:latin typeface="Times New Roman" panose="02020603050405020304" pitchFamily="18" charset="0"/>
                <a:cs typeface="Times New Roman" panose="02020603050405020304" pitchFamily="18" charset="0"/>
              </a:rPr>
              <a:t>Support scalability and maintainability for future enhancements.</a:t>
            </a:r>
          </a:p>
          <a:p>
            <a:pPr algn="just"/>
            <a:endParaRPr lang="en-US" altLang="en-US" sz="2000" dirty="0">
              <a:solidFill>
                <a:srgbClr val="0000FF"/>
              </a:solidFill>
              <a:latin typeface="Times New Roman" panose="02020603050405020304" pitchFamily="18" charset="0"/>
              <a:cs typeface="Times New Roman" panose="02020603050405020304" pitchFamily="18" charset="0"/>
            </a:endParaRPr>
          </a:p>
          <a:p>
            <a:pPr algn="just"/>
            <a:endParaRPr lang="en-US" altLang="en-US" sz="2000"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Architecture Diagram</a:t>
            </a:r>
          </a:p>
        </p:txBody>
      </p:sp>
      <p:sp>
        <p:nvSpPr>
          <p:cNvPr id="21507" name="Rectangle 3"/>
          <p:cNvSpPr>
            <a:spLocks noGrp="1"/>
          </p:cNvSpPr>
          <p:nvPr>
            <p:ph type="body" idx="1"/>
          </p:nvPr>
        </p:nvSpPr>
        <p:spPr>
          <a:xfrm>
            <a:off x="609600" y="1047750"/>
            <a:ext cx="8229600" cy="3581400"/>
          </a:xfrm>
        </p:spPr>
        <p:txBody>
          <a:bodyPr/>
          <a:lstStyle/>
          <a:p>
            <a:pPr marL="118745" indent="0">
              <a:buNone/>
            </a:pPr>
            <a:r>
              <a:rPr lang="en-US" altLang="en-US" sz="1400" dirty="0">
                <a:solidFill>
                  <a:srgbClr val="0000FF"/>
                </a:solidFill>
                <a:latin typeface="Times New Roman" panose="02020603050405020304" pitchFamily="18" charset="0"/>
                <a:cs typeface="Times New Roman" panose="02020603050405020304" pitchFamily="18" charset="0"/>
              </a:rPr>
              <a:t>  </a:t>
            </a:r>
          </a:p>
        </p:txBody>
      </p:sp>
      <p:pic>
        <p:nvPicPr>
          <p:cNvPr id="3" name="Picture 2"/>
          <p:cNvPicPr>
            <a:picLocks noChangeAspect="1"/>
          </p:cNvPicPr>
          <p:nvPr/>
        </p:nvPicPr>
        <p:blipFill>
          <a:blip r:embed="rId2"/>
          <a:stretch>
            <a:fillRect/>
          </a:stretch>
        </p:blipFill>
        <p:spPr>
          <a:xfrm>
            <a:off x="762000" y="1074420"/>
            <a:ext cx="7460615" cy="4068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a:defRPr/>
            </a:pPr>
            <a:r>
              <a:rPr lang="en-US" altLang="en-US" dirty="0">
                <a:solidFill>
                  <a:srgbClr val="FFC000"/>
                </a:solidFill>
              </a:rPr>
              <a:t>Architecture Diagram Explanation</a:t>
            </a:r>
          </a:p>
        </p:txBody>
      </p:sp>
      <p:sp>
        <p:nvSpPr>
          <p:cNvPr id="21507" name="Rectangle 3"/>
          <p:cNvSpPr>
            <a:spLocks noGrp="1"/>
          </p:cNvSpPr>
          <p:nvPr>
            <p:ph type="body" idx="1"/>
          </p:nvPr>
        </p:nvSpPr>
        <p:spPr>
          <a:xfrm>
            <a:off x="609600" y="1047750"/>
            <a:ext cx="8229600" cy="3581400"/>
          </a:xfrm>
        </p:spPr>
        <p:txBody>
          <a:bodyPr/>
          <a:lstStyle/>
          <a:p>
            <a:r>
              <a:rPr lang="en-US" altLang="en-US" sz="2000" dirty="0">
                <a:solidFill>
                  <a:schemeClr val="tx1"/>
                </a:solidFill>
                <a:latin typeface="Times New Roman" panose="02020603050405020304" pitchFamily="18" charset="0"/>
                <a:cs typeface="Times New Roman" panose="02020603050405020304" pitchFamily="18" charset="0"/>
              </a:rPr>
              <a:t>Users/Admins initiate requests via the UI.</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PHP Scripts handle server-side logic to process input.</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MySQL Database stores and retrieves structured data.</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Admin privileges allow:</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Car addition, deletion</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Booking approval/rejection</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User management</a:t>
            </a:r>
          </a:p>
          <a:p>
            <a:endParaRPr lang="en-US" altLang="en-US" sz="2000" dirty="0">
              <a:solidFill>
                <a:srgbClr val="0000FF"/>
              </a:solidFill>
              <a:latin typeface="Times New Roman" panose="02020603050405020304" pitchFamily="18" charset="0"/>
              <a:cs typeface="Times New Roman" panose="02020603050405020304" pitchFamily="18" charset="0"/>
            </a:endParaRPr>
          </a:p>
          <a:p>
            <a:endParaRPr lang="en-US" altLang="en-US" sz="2000"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Schema Diagram</a:t>
            </a: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t>10</a:t>
            </a:fld>
            <a:endParaRPr lang="en-US" altLang="en-US"/>
          </a:p>
        </p:txBody>
      </p:sp>
      <p:pic>
        <p:nvPicPr>
          <p:cNvPr id="7" name="Content Placeholder 6"/>
          <p:cNvPicPr>
            <a:picLocks noGrp="1" noChangeAspect="1"/>
          </p:cNvPicPr>
          <p:nvPr>
            <p:ph idx="1"/>
          </p:nvPr>
        </p:nvPicPr>
        <p:blipFill>
          <a:blip r:embed="rId2"/>
          <a:stretch>
            <a:fillRect/>
          </a:stretch>
        </p:blipFill>
        <p:spPr>
          <a:xfrm>
            <a:off x="957580" y="1202055"/>
            <a:ext cx="7113905" cy="38950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95400" y="1125815"/>
            <a:ext cx="6096000" cy="3938310"/>
          </a:xfrm>
        </p:spPr>
      </p:pic>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Description</a:t>
            </a:r>
          </a:p>
        </p:txBody>
      </p:sp>
      <p:sp>
        <p:nvSpPr>
          <p:cNvPr id="3" name="Content Placeholder 2"/>
          <p:cNvSpPr>
            <a:spLocks noGrp="1"/>
          </p:cNvSpPr>
          <p:nvPr>
            <p:ph idx="1"/>
          </p:nvPr>
        </p:nvSpPr>
        <p:spPr>
          <a:xfrm>
            <a:off x="304800" y="971550"/>
            <a:ext cx="8280400" cy="4582160"/>
          </a:xfrm>
        </p:spPr>
        <p:txBody>
          <a:bodyPr/>
          <a:lstStyle/>
          <a:p>
            <a:pPr algn="just"/>
            <a:endParaRPr lang="en-US" altLang="en-US" sz="2000" dirty="0" smtClean="0">
              <a:latin typeface="Times New Roman" panose="02020603050405020304" pitchFamily="18" charset="0"/>
              <a:cs typeface="Times New Roman" panose="02020603050405020304" pitchFamily="18" charset="0"/>
            </a:endParaRPr>
          </a:p>
          <a:p>
            <a:pPr algn="just">
              <a:buFont typeface="Wingdings" pitchFamily="2" charset="2"/>
              <a:buChar char="Ø"/>
            </a:pPr>
            <a:r>
              <a:rPr lang="en-US" altLang="en-US" sz="2000" dirty="0" smtClean="0">
                <a:latin typeface="Times New Roman" panose="02020603050405020304" pitchFamily="18" charset="0"/>
                <a:cs typeface="Times New Roman" panose="02020603050405020304" pitchFamily="18" charset="0"/>
              </a:rPr>
              <a:t>Frontend</a:t>
            </a:r>
            <a:r>
              <a:rPr lang="en-US" altLang="en-US" sz="2000" dirty="0">
                <a:latin typeface="Times New Roman" panose="02020603050405020304" pitchFamily="18" charset="0"/>
                <a:cs typeface="Times New Roman" panose="02020603050405020304" pitchFamily="18" charset="0"/>
              </a:rPr>
              <a:t>:</a:t>
            </a:r>
          </a:p>
          <a:p>
            <a:pPr algn="just"/>
            <a:r>
              <a:rPr lang="en-US" altLang="en-US" sz="2000" dirty="0">
                <a:latin typeface="Times New Roman" panose="02020603050405020304" pitchFamily="18" charset="0"/>
                <a:cs typeface="Times New Roman" panose="02020603050405020304" pitchFamily="18" charset="0"/>
              </a:rPr>
              <a:t>HTML5 for structure</a:t>
            </a:r>
          </a:p>
          <a:p>
            <a:pPr algn="just"/>
            <a:r>
              <a:rPr lang="en-US" altLang="en-US" sz="2000" dirty="0">
                <a:latin typeface="Times New Roman" panose="02020603050405020304" pitchFamily="18" charset="0"/>
                <a:cs typeface="Times New Roman" panose="02020603050405020304" pitchFamily="18" charset="0"/>
              </a:rPr>
              <a:t>CSS3 for design/styling</a:t>
            </a:r>
          </a:p>
          <a:p>
            <a:pPr algn="just"/>
            <a:r>
              <a:rPr lang="en-US" altLang="en-US" sz="2000" dirty="0">
                <a:latin typeface="Times New Roman" panose="02020603050405020304" pitchFamily="18" charset="0"/>
                <a:cs typeface="Times New Roman" panose="02020603050405020304" pitchFamily="18" charset="0"/>
              </a:rPr>
              <a:t>JavaScript for interactivity and form validation</a:t>
            </a:r>
          </a:p>
          <a:p>
            <a:pPr algn="just">
              <a:buFont typeface="Wingdings" pitchFamily="2" charset="2"/>
              <a:buChar char="Ø"/>
            </a:pPr>
            <a:r>
              <a:rPr lang="en-US" altLang="en-US" sz="2000" dirty="0" smtClean="0">
                <a:latin typeface="Times New Roman" panose="02020603050405020304" pitchFamily="18" charset="0"/>
                <a:cs typeface="Times New Roman" panose="02020603050405020304" pitchFamily="18" charset="0"/>
              </a:rPr>
              <a:t>Backend</a:t>
            </a:r>
            <a:r>
              <a:rPr lang="en-US" altLang="en-US" sz="2000" dirty="0">
                <a:latin typeface="Times New Roman" panose="02020603050405020304" pitchFamily="18" charset="0"/>
                <a:cs typeface="Times New Roman" panose="02020603050405020304" pitchFamily="18" charset="0"/>
              </a:rPr>
              <a:t>:</a:t>
            </a:r>
          </a:p>
          <a:p>
            <a:pPr algn="just"/>
            <a:r>
              <a:rPr lang="en-US" altLang="en-US" sz="2000" dirty="0">
                <a:latin typeface="Times New Roman" panose="02020603050405020304" pitchFamily="18" charset="0"/>
                <a:cs typeface="Times New Roman" panose="02020603050405020304" pitchFamily="18" charset="0"/>
              </a:rPr>
              <a:t>PHP handles server-side processing</a:t>
            </a:r>
          </a:p>
          <a:p>
            <a:pPr algn="just"/>
            <a:r>
              <a:rPr lang="en-US" altLang="en-US" sz="2000" dirty="0">
                <a:latin typeface="Times New Roman" panose="02020603050405020304" pitchFamily="18" charset="0"/>
                <a:cs typeface="Times New Roman" panose="02020603050405020304" pitchFamily="18" charset="0"/>
              </a:rPr>
              <a:t>MySQL for relational database management</a:t>
            </a:r>
          </a:p>
          <a:p>
            <a:pPr algn="just"/>
            <a:r>
              <a:rPr lang="en-US" altLang="en-US" sz="2000" dirty="0">
                <a:latin typeface="Times New Roman" panose="02020603050405020304" pitchFamily="18" charset="0"/>
                <a:cs typeface="Times New Roman" panose="02020603050405020304" pitchFamily="18" charset="0"/>
              </a:rPr>
              <a:t>Server:</a:t>
            </a:r>
          </a:p>
          <a:p>
            <a:pPr algn="just"/>
            <a:r>
              <a:rPr lang="en-US" altLang="en-US" sz="2000" dirty="0">
                <a:latin typeface="Times New Roman" panose="02020603050405020304" pitchFamily="18" charset="0"/>
                <a:cs typeface="Times New Roman" panose="02020603050405020304" pitchFamily="18" charset="0"/>
              </a:rPr>
              <a:t>Apache (via XAMPP) to host and test locally</a:t>
            </a:r>
          </a:p>
          <a:p>
            <a:pPr algn="just"/>
            <a:r>
              <a:rPr lang="en-US" altLang="en-US" sz="2000" dirty="0">
                <a:latin typeface="Times New Roman" panose="02020603050405020304" pitchFamily="18" charset="0"/>
                <a:cs typeface="Times New Roman" panose="02020603050405020304" pitchFamily="18" charset="0"/>
              </a:rPr>
              <a:t>Tools:</a:t>
            </a:r>
          </a:p>
          <a:p>
            <a:pPr algn="just"/>
            <a:r>
              <a:rPr lang="en-US" altLang="en-US" sz="2000" dirty="0">
                <a:latin typeface="Times New Roman" panose="02020603050405020304" pitchFamily="18" charset="0"/>
                <a:cs typeface="Times New Roman" panose="02020603050405020304" pitchFamily="18" charset="0"/>
              </a:rPr>
              <a:t>Visual Studio Code, Bootstrap framework for UI components</a:t>
            </a:r>
          </a:p>
          <a:p>
            <a:pPr algn="just"/>
            <a:endParaRPr lang="en-US" alt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&amp; Discussion</a:t>
            </a:r>
          </a:p>
        </p:txBody>
      </p:sp>
      <p:pic>
        <p:nvPicPr>
          <p:cNvPr id="4" name="Content Placeholder 3"/>
          <p:cNvPicPr>
            <a:picLocks noGrp="1" noChangeAspect="1"/>
          </p:cNvPicPr>
          <p:nvPr>
            <p:ph idx="1"/>
          </p:nvPr>
        </p:nvPicPr>
        <p:blipFill>
          <a:blip r:embed="rId3"/>
          <a:stretch>
            <a:fillRect/>
          </a:stretch>
        </p:blipFill>
        <p:spPr>
          <a:xfrm>
            <a:off x="76200" y="1184275"/>
            <a:ext cx="5062855" cy="3575685"/>
          </a:xfrm>
          <a:prstGeom prst="rect">
            <a:avLst/>
          </a:prstGeom>
        </p:spPr>
      </p:pic>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t>13</a:t>
            </a:fld>
            <a:endParaRPr lang="en-US" altLang="en-US"/>
          </a:p>
        </p:txBody>
      </p:sp>
      <p:sp>
        <p:nvSpPr>
          <p:cNvPr id="8" name="Text Box 7"/>
          <p:cNvSpPr txBox="1"/>
          <p:nvPr/>
        </p:nvSpPr>
        <p:spPr>
          <a:xfrm>
            <a:off x="5182235" y="1246505"/>
            <a:ext cx="3839210" cy="3317240"/>
          </a:xfrm>
          <a:prstGeom prst="rect">
            <a:avLst/>
          </a:prstGeom>
          <a:noFill/>
        </p:spPr>
        <p:txBody>
          <a:bodyPr wrap="square" rtlCol="0">
            <a:noAutofit/>
          </a:bodyPr>
          <a:lstStyle/>
          <a:p>
            <a:pPr algn="just"/>
            <a:r>
              <a:rPr lang="en-US" altLang="en-US" dirty="0" smtClean="0">
                <a:latin typeface="Times New Roman" panose="02020603050405020304" pitchFamily="18" charset="0"/>
                <a:cs typeface="Times New Roman" panose="02020603050405020304" pitchFamily="18" charset="0"/>
              </a:rPr>
              <a:t>It indicates </a:t>
            </a:r>
            <a:r>
              <a:rPr lang="en-US" altLang="en-US" dirty="0">
                <a:latin typeface="Times New Roman" panose="02020603050405020304" pitchFamily="18" charset="0"/>
                <a:cs typeface="Times New Roman" panose="02020603050405020304" pitchFamily="18" charset="0"/>
              </a:rPr>
              <a:t>the home page of our website </a:t>
            </a:r>
            <a:r>
              <a:rPr lang="en-US" altLang="en-US" dirty="0" smtClean="0">
                <a:latin typeface="Times New Roman" panose="02020603050405020304" pitchFamily="18" charset="0"/>
                <a:cs typeface="Times New Roman" panose="02020603050405020304" pitchFamily="18" charset="0"/>
              </a:rPr>
              <a:t>Cars</a:t>
            </a:r>
            <a:r>
              <a:rPr lang="en-US" altLang="en-US" dirty="0">
                <a:latin typeface="Times New Roman" panose="02020603050405020304" pitchFamily="18" charset="0"/>
                <a:cs typeface="Times New Roman" panose="02020603050405020304" pitchFamily="18" charset="0"/>
              </a:rPr>
              <a:t>. This contains navigation </a:t>
            </a:r>
            <a:r>
              <a:rPr lang="en-US" altLang="en-US" dirty="0" err="1" smtClean="0">
                <a:latin typeface="Times New Roman" panose="02020603050405020304" pitchFamily="18" charset="0"/>
                <a:cs typeface="Times New Roman" panose="02020603050405020304" pitchFamily="18" charset="0"/>
              </a:rPr>
              <a:t>bar,through</a:t>
            </a:r>
            <a:r>
              <a:rPr lang="en-US" altLang="en-US" dirty="0" smtClean="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which can navigate to other pages. It also contains some details about the website </a:t>
            </a:r>
            <a:r>
              <a:rPr lang="en-US" altLang="en-US" dirty="0" smtClean="0">
                <a:latin typeface="Times New Roman" panose="02020603050405020304" pitchFamily="18" charset="0"/>
                <a:cs typeface="Times New Roman" panose="02020603050405020304" pitchFamily="18" charset="0"/>
              </a:rPr>
              <a:t>at </a:t>
            </a:r>
            <a:r>
              <a:rPr lang="en-US" altLang="en-US" dirty="0">
                <a:latin typeface="Times New Roman" panose="02020603050405020304" pitchFamily="18" charset="0"/>
                <a:cs typeface="Times New Roman" panose="02020603050405020304" pitchFamily="18" charset="0"/>
              </a:rPr>
              <a:t>the home page.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Results &amp; Discussion</a:t>
            </a:r>
            <a:endParaRPr lang="en-US"/>
          </a:p>
        </p:txBody>
      </p:sp>
      <p:pic>
        <p:nvPicPr>
          <p:cNvPr id="6" name="Content Placeholder 5"/>
          <p:cNvPicPr>
            <a:picLocks noGrp="1" noChangeAspect="1"/>
          </p:cNvPicPr>
          <p:nvPr>
            <p:ph idx="1"/>
          </p:nvPr>
        </p:nvPicPr>
        <p:blipFill>
          <a:blip r:embed="rId3"/>
          <a:stretch>
            <a:fillRect/>
          </a:stretch>
        </p:blipFill>
        <p:spPr>
          <a:xfrm>
            <a:off x="0" y="1056005"/>
            <a:ext cx="6186170" cy="3705225"/>
          </a:xfrm>
          <a:prstGeom prst="rect">
            <a:avLst/>
          </a:prstGeom>
        </p:spPr>
      </p:pic>
      <p:sp>
        <p:nvSpPr>
          <p:cNvPr id="4" name="Footer Placeholder 3"/>
          <p:cNvSpPr>
            <a:spLocks noGrp="1"/>
          </p:cNvSpPr>
          <p:nvPr>
            <p:ph type="ftr" sz="quarter" idx="11"/>
          </p:nvPr>
        </p:nvSpPr>
        <p:spPr>
          <a:xfrm>
            <a:off x="-914400" y="4781550"/>
            <a:ext cx="8072438" cy="285750"/>
          </a:xfrm>
        </p:spPr>
        <p:txBody>
          <a:bodyPr/>
          <a:lstStyle/>
          <a:p>
            <a:pPr algn="ctr">
              <a:defRPr/>
            </a:pPr>
            <a:r>
              <a:rPr lang="en-US" sz="2000" b="1" dirty="0" smtClean="0">
                <a:latin typeface="Times New Roman" panose="02020603050405020304" pitchFamily="18" charset="0"/>
                <a:cs typeface="Times New Roman" panose="02020603050405020304" pitchFamily="18" charset="0"/>
              </a:rPr>
              <a:t>Figure 6.2</a:t>
            </a:r>
            <a:endParaRPr lang="en-US" sz="20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a:t>14</a:t>
            </a:fld>
            <a:endParaRPr lang="en-US" altLang="en-US"/>
          </a:p>
        </p:txBody>
      </p:sp>
      <p:sp>
        <p:nvSpPr>
          <p:cNvPr id="7" name="Text Box 6"/>
          <p:cNvSpPr txBox="1"/>
          <p:nvPr/>
        </p:nvSpPr>
        <p:spPr>
          <a:xfrm>
            <a:off x="6273800" y="1174750"/>
            <a:ext cx="2717800" cy="2308324"/>
          </a:xfrm>
          <a:prstGeom prst="rect">
            <a:avLst/>
          </a:prstGeom>
          <a:noFill/>
        </p:spPr>
        <p:txBody>
          <a:bodyPr wrap="square" rtlCol="0">
            <a:spAutoFit/>
          </a:bodyPr>
          <a:lstStyle/>
          <a:p>
            <a:pPr algn="just"/>
            <a:r>
              <a:rPr lang="en-US" altLang="en-US" dirty="0" smtClean="0">
                <a:latin typeface="Times New Roman" panose="02020603050405020304" pitchFamily="18" charset="0"/>
                <a:cs typeface="Times New Roman" panose="02020603050405020304" pitchFamily="18" charset="0"/>
              </a:rPr>
              <a:t>It indicates the user registration page. It asks the user to enter the details like first name, last name, email, license number, phone number, password,</a:t>
            </a:r>
          </a:p>
          <a:p>
            <a:pPr algn="just"/>
            <a:r>
              <a:rPr lang="en-US" altLang="en-US" dirty="0" smtClean="0">
                <a:latin typeface="Times New Roman" panose="02020603050405020304" pitchFamily="18" charset="0"/>
                <a:cs typeface="Times New Roman" panose="02020603050405020304" pitchFamily="18" charset="0"/>
              </a:rPr>
              <a:t>confirm password and gender.</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pPr algn="just"/>
            <a:r>
              <a:rPr lang="en-US" sz="2000" dirty="0">
                <a:latin typeface="Times New Roman" panose="02020603050405020304" pitchFamily="18" charset="0"/>
                <a:cs typeface="Times New Roman" panose="02020603050405020304" pitchFamily="18" charset="0"/>
              </a:rPr>
              <a:t>In conclusion, the Car Rental System has been developed successfully and meets the key objectives of automating the car rental process, improving operational </a:t>
            </a:r>
            <a:r>
              <a:rPr lang="en-US" sz="2000" dirty="0" smtClean="0">
                <a:latin typeface="Times New Roman" panose="02020603050405020304" pitchFamily="18" charset="0"/>
                <a:cs typeface="Times New Roman" panose="02020603050405020304" pitchFamily="18" charset="0"/>
              </a:rPr>
              <a:t>efficiency, and </a:t>
            </a:r>
            <a:r>
              <a:rPr lang="en-US" sz="2000" dirty="0">
                <a:latin typeface="Times New Roman" panose="02020603050405020304" pitchFamily="18" charset="0"/>
                <a:cs typeface="Times New Roman" panose="02020603050405020304" pitchFamily="18" charset="0"/>
              </a:rPr>
              <a:t>providing a user-friendly interface for customers and rental agencies. The system integrates a relational database to manage data, processes payments securely, and allows for real-time updates of car availability and booking statuses. The system is scalable and can be expanded in the future to include additional features, such as mobile access or more advanced analytics. The implementation of the Car Rental System represents a significant step toward modernizing and streamlining car rental operations, ultimately leading to better customer experiences and enhanced business efficiency.</a:t>
            </a: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a:xfrm>
            <a:off x="0" y="1200150"/>
            <a:ext cx="9144000" cy="3943349"/>
          </a:xfrm>
        </p:spPr>
        <p:txBody>
          <a:bodyPr/>
          <a:lstStyle/>
          <a:p>
            <a:pPr>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Elmasri, R., &amp; Navathe, S. B. (2011). Fundamentals of database systems (6th ed.). Pearson.</a:t>
            </a:r>
          </a:p>
          <a:p>
            <a:pPr>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Forbes, A. (2014). The joy of PHP programming: A beginner's guide to programming interactive applications with PHP and MySQL (5th ed.). CreateSpace Independent Publishing Platform.</a:t>
            </a:r>
          </a:p>
          <a:p>
            <a:pPr>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Connolly, T., &amp; Begg, C. (2015).Database Systems: A Practical Approach to Design, Implementation, and Management (6th ed.). Pearson Education.</a:t>
            </a:r>
          </a:p>
          <a:p>
            <a:pPr>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Ullman, J. D., &amp; Widom, J. (2008).A First Course in Database Systems (3rd ed.). Pearson.Covers database fundamentals, relational algebra, normalization, and database design principles.</a:t>
            </a:r>
          </a:p>
          <a:p>
            <a:pPr marL="118745" indent="0">
              <a:buNone/>
            </a:pPr>
            <a:endParaRPr lang="en-US" alt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t>16</a:t>
            </a:fld>
            <a:endParaRPr lang="en-US"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Droplet</Template>
  <TotalTime>0</TotalTime>
  <Words>772</Words>
  <Application>Microsoft Office PowerPoint</Application>
  <PresentationFormat>On-screen Show (16:9)</PresentationFormat>
  <Paragraphs>126</Paragraphs>
  <Slides>16</Slides>
  <Notes>7</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Module</vt:lpstr>
      <vt:lpstr>M.KUMARASAMY COLLEGE OF ENGINEERING ,  KARUR.</vt:lpstr>
      <vt:lpstr>TITLE OF THE PROJECT </vt:lpstr>
      <vt:lpstr>Abstract</vt:lpstr>
      <vt:lpstr>Literature Review</vt:lpstr>
      <vt:lpstr>Problem(s) Identified</vt:lpstr>
      <vt:lpstr>Proposed Solution</vt:lpstr>
      <vt:lpstr>Objectives</vt:lpstr>
      <vt:lpstr>Architecture Diagram</vt:lpstr>
      <vt:lpstr>Architecture Diagram Explanation</vt:lpstr>
      <vt:lpstr>Schema Diagram</vt:lpstr>
      <vt:lpstr>ER diagram</vt:lpstr>
      <vt:lpstr>Software Description</vt:lpstr>
      <vt:lpstr>Results &amp; Discussion</vt:lpstr>
      <vt:lpstr>Results &amp; Discussion</vt:lpstr>
      <vt:lpstr>Conclusion</vt:lpstr>
      <vt:lpstr>Reference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4</cp:revision>
  <dcterms:created xsi:type="dcterms:W3CDTF">2025-05-28T00:46:11Z</dcterms:created>
  <dcterms:modified xsi:type="dcterms:W3CDTF">2025-06-05T14:27:29Z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DED95B3E7DFD4C92ADD0450C5C9118EF_13</vt:lpwstr>
  </property>
  <property fmtid="{D5CDD505-2E9C-101B-9397-08002B2CF9AE}" pid="3" name="KSOProductBuildVer">
    <vt:lpwstr>1033-12.2.0.21179</vt:lpwstr>
  </property>
</Properties>
</file>